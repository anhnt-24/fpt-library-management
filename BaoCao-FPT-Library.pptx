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📚 FPT Library Management</a:t>
            </a:r>
          </a:p>
          <a:p>
            <a:r>
              <a:rPr sz="2400" b="0">
                <a:solidFill>
                  <a:srgbClr val="D6E6F7"/>
                </a:solidFill>
                <a:latin typeface="Calibri"/>
              </a:rPr>
              <a:t>Hệ thống quản lý thư viện sách</a:t>
            </a:r>
          </a:p>
          <a:p>
            <a:r>
              <a:rPr sz="1800" b="0">
                <a:solidFill>
                  <a:srgbClr val="D6E6F7"/>
                </a:solidFill>
                <a:latin typeface="Calibri"/>
              </a:rPr>
              <a:t>React + Vite  ·  Express  ·  SQLite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9377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Nhóm thực hiện: Nguyễn Tuấn Anh  ·  Phan Hà Tuấn  ·  Nguyễn Trí Dũng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C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1. Giới thiệu dự 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F2D3D"/>
                </a:solidFill>
                <a:latin typeface="Calibri"/>
              </a:rPr>
              <a:t>•  Mục tiêu:</a:t>
            </a:r>
          </a:p>
          <a:p>
            <a:pPr lvl="1">
              <a:spcAft>
                <a:spcPts val="1000"/>
              </a:spcAft>
            </a:pPr>
            <a:r>
              <a:rPr sz="1700" b="0">
                <a:solidFill>
                  <a:srgbClr val="6B7784"/>
                </a:solidFill>
                <a:latin typeface="Calibri"/>
              </a:rPr>
              <a:t>–  Ứng dụng web quản lý mượn / trả sách của thư viện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2D3D"/>
                </a:solidFill>
                <a:latin typeface="Calibri"/>
              </a:rPr>
              <a:t>•  Hai vai trò người dùng:</a:t>
            </a:r>
          </a:p>
          <a:p>
            <a:pPr lvl="1">
              <a:spcAft>
                <a:spcPts val="1000"/>
              </a:spcAft>
            </a:pPr>
            <a:r>
              <a:rPr sz="1700" b="0">
                <a:solidFill>
                  <a:srgbClr val="6B7784"/>
                </a:solidFill>
                <a:latin typeface="Calibri"/>
              </a:rPr>
              <a:t>–  Thủ thư (Admin) — quản lý sách, phiếu mượn, độc giả, thống kê</a:t>
            </a:r>
          </a:p>
          <a:p>
            <a:pPr lvl="1">
              <a:spcAft>
                <a:spcPts val="1000"/>
              </a:spcAft>
            </a:pPr>
            <a:r>
              <a:rPr sz="1700" b="0">
                <a:solidFill>
                  <a:srgbClr val="6B7784"/>
                </a:solidFill>
                <a:latin typeface="Calibri"/>
              </a:rPr>
              <a:t>–  Độc giả (Member) — tra cứu, đặt mượn, đánh giá sách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2D3D"/>
                </a:solidFill>
                <a:latin typeface="Calibri"/>
              </a:rPr>
              <a:t>•  Đặc điểm:</a:t>
            </a:r>
          </a:p>
          <a:p>
            <a:pPr lvl="1">
              <a:spcAft>
                <a:spcPts val="1000"/>
              </a:spcAft>
            </a:pPr>
            <a:r>
              <a:rPr sz="1700" b="0">
                <a:solidFill>
                  <a:srgbClr val="6B7784"/>
                </a:solidFill>
                <a:latin typeface="Calibri"/>
              </a:rPr>
              <a:t>–  REST API tách biệt frontend/backend, phân quyền theo vai trò</a:t>
            </a:r>
          </a:p>
          <a:p>
            <a:pPr lvl="1">
              <a:spcAft>
                <a:spcPts val="1000"/>
              </a:spcAft>
            </a:pPr>
            <a:r>
              <a:rPr sz="1700" b="0">
                <a:solidFill>
                  <a:srgbClr val="6B7784"/>
                </a:solidFill>
                <a:latin typeface="Calibri"/>
              </a:rPr>
              <a:t>–  Dữ liệu lưu ở SQLite — bền vững qua khởi động lại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6B7784"/>
                </a:solidFill>
                <a:latin typeface="Calibri"/>
              </a:rPr>
              <a:t>FPT Library 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C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2. Công nghệ sử dụng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F2D3D"/>
                </a:solidFill>
                <a:latin typeface="Calibri"/>
              </a:rPr>
              <a:t>•  Frontend:</a:t>
            </a:r>
          </a:p>
          <a:p>
            <a:pPr lvl="1">
              <a:spcAft>
                <a:spcPts val="1000"/>
              </a:spcAft>
            </a:pPr>
            <a:r>
              <a:rPr sz="1700" b="0">
                <a:solidFill>
                  <a:srgbClr val="6B7784"/>
                </a:solidFill>
                <a:latin typeface="Calibri"/>
              </a:rPr>
              <a:t>–  React 18 + Vite, React Router (SPA nhiều trang)</a:t>
            </a:r>
          </a:p>
          <a:p>
            <a:pPr lvl="1">
              <a:spcAft>
                <a:spcPts val="1000"/>
              </a:spcAft>
            </a:pPr>
            <a:r>
              <a:rPr sz="1700" b="0">
                <a:solidFill>
                  <a:srgbClr val="6B7784"/>
                </a:solidFill>
                <a:latin typeface="Calibri"/>
              </a:rPr>
              <a:t>–  Recharts (biểu đồ dashboard)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2D3D"/>
                </a:solidFill>
                <a:latin typeface="Calibri"/>
              </a:rPr>
              <a:t>•  Backend:</a:t>
            </a:r>
          </a:p>
          <a:p>
            <a:pPr lvl="1">
              <a:spcAft>
                <a:spcPts val="1000"/>
              </a:spcAft>
            </a:pPr>
            <a:r>
              <a:rPr sz="1700" b="0">
                <a:solidFill>
                  <a:srgbClr val="6B7784"/>
                </a:solidFill>
                <a:latin typeface="Calibri"/>
              </a:rPr>
              <a:t>–  Node.js (ES Modules) + Express 4</a:t>
            </a:r>
          </a:p>
          <a:p>
            <a:pPr lvl="1">
              <a:spcAft>
                <a:spcPts val="1000"/>
              </a:spcAft>
            </a:pPr>
            <a:r>
              <a:rPr sz="1700" b="0">
                <a:solidFill>
                  <a:srgbClr val="6B7784"/>
                </a:solidFill>
                <a:latin typeface="Calibri"/>
              </a:rPr>
              <a:t>–  SQLite qua better-sqlite3 (truy vấn đồng bộ)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2D3D"/>
                </a:solidFill>
                <a:latin typeface="Calibri"/>
              </a:rPr>
              <a:t>•  Bảo mật &amp; tiện ích:</a:t>
            </a:r>
          </a:p>
          <a:p>
            <a:pPr lvl="1">
              <a:spcAft>
                <a:spcPts val="1000"/>
              </a:spcAft>
            </a:pPr>
            <a:r>
              <a:rPr sz="1700" b="0">
                <a:solidFill>
                  <a:srgbClr val="6B7784"/>
                </a:solidFill>
                <a:latin typeface="Calibri"/>
              </a:rPr>
              <a:t>–  JWT (access + refresh) + bcrypt băm mật khẩu</a:t>
            </a:r>
          </a:p>
          <a:p>
            <a:pPr lvl="1">
              <a:spcAft>
                <a:spcPts val="1000"/>
              </a:spcAft>
            </a:pPr>
            <a:r>
              <a:rPr sz="1700" b="0">
                <a:solidFill>
                  <a:srgbClr val="6B7784"/>
                </a:solidFill>
                <a:latin typeface="Calibri"/>
              </a:rPr>
              <a:t>–  qrcode · nodemailer · node-cron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6B7784"/>
                </a:solidFill>
                <a:latin typeface="Calibri"/>
              </a:rPr>
              <a:t>FPT Library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C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3. Kiến trúc hệ thống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F2D3D"/>
                </a:solidFill>
                <a:latin typeface="Calibri"/>
              </a:rPr>
              <a:t>•  Luồng dữ liệu:</a:t>
            </a:r>
          </a:p>
          <a:p>
            <a:pPr lvl="1">
              <a:spcAft>
                <a:spcPts val="1000"/>
              </a:spcAft>
            </a:pPr>
            <a:r>
              <a:rPr sz="1700" b="0">
                <a:solidFill>
                  <a:srgbClr val="6B7784"/>
                </a:solidFill>
                <a:latin typeface="Calibri"/>
              </a:rPr>
              <a:t>–  Client (SPA) ⇄ REST API /api ⇄ Data-access ⇄ SQLite</a:t>
            </a:r>
          </a:p>
          <a:p>
            <a:pPr lvl="1">
              <a:spcAft>
                <a:spcPts val="1000"/>
              </a:spcAft>
            </a:pPr>
            <a:r>
              <a:rPr sz="1700" b="0">
                <a:solidFill>
                  <a:srgbClr val="6B7784"/>
                </a:solidFill>
                <a:latin typeface="Calibri"/>
              </a:rPr>
              <a:t>–  Dev: Vite proxy /api → backend (tránh CORS)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2D3D"/>
                </a:solidFill>
                <a:latin typeface="Calibri"/>
              </a:rPr>
              <a:t>•  Phân lớp backend:</a:t>
            </a:r>
          </a:p>
          <a:p>
            <a:pPr lvl="1">
              <a:spcAft>
                <a:spcPts val="1000"/>
              </a:spcAft>
            </a:pPr>
            <a:r>
              <a:rPr sz="1700" b="0">
                <a:solidFill>
                  <a:srgbClr val="6B7784"/>
                </a:solidFill>
                <a:latin typeface="Calibri"/>
              </a:rPr>
              <a:t>–  server.js → app.js → routes/* → data/* → db.js</a:t>
            </a:r>
          </a:p>
          <a:p>
            <a:pPr lvl="1">
              <a:spcAft>
                <a:spcPts val="1000"/>
              </a:spcAft>
            </a:pPr>
            <a:r>
              <a:rPr sz="1700" b="0">
                <a:solidFill>
                  <a:srgbClr val="6B7784"/>
                </a:solidFill>
                <a:latin typeface="Calibri"/>
              </a:rPr>
              <a:t>–  middleware: auth (JWT), requireRole (phân quyền)</a:t>
            </a:r>
          </a:p>
          <a:p>
            <a:pPr lvl="1">
              <a:spcAft>
                <a:spcPts val="1000"/>
              </a:spcAft>
            </a:pPr>
            <a:r>
              <a:rPr sz="1700" b="0">
                <a:solidFill>
                  <a:srgbClr val="6B7784"/>
                </a:solidFill>
                <a:latin typeface="Calibri"/>
              </a:rPr>
              <a:t>–  services: fine, email, scheduler, recommend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F2D3D"/>
                </a:solidFill>
                <a:latin typeface="Calibri"/>
              </a:rPr>
              <a:t>•  Lớp data-access giúp đổi CSDL mà không sửa route.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6B7784"/>
                </a:solidFill>
                <a:latin typeface="Calibri"/>
              </a:rPr>
              <a:t>FPT Library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C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4. Authentication &amp; Phân quyền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F2D3D"/>
                </a:solidFill>
                <a:latin typeface="Calibri"/>
              </a:rPr>
              <a:t>•  Đăng ký / đăng nhập / đăng xuất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F2D3D"/>
                </a:solidFill>
                <a:latin typeface="Calibri"/>
              </a:rPr>
              <a:t>•  JWT: access token 15 phút + refresh token 7 ngày (thu hồi được)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F2D3D"/>
                </a:solidFill>
                <a:latin typeface="Calibri"/>
              </a:rPr>
              <a:t>•  Mật khẩu băm bằng bcrypt, không lưu dạng thô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F2D3D"/>
                </a:solidFill>
                <a:latin typeface="Calibri"/>
              </a:rPr>
              <a:t>•  2 vai trò: Admin &amp; Member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F2D3D"/>
                </a:solidFill>
                <a:latin typeface="Calibri"/>
              </a:rPr>
              <a:t>•  Bảo vệ route 2 lớp: middleware server + ProtectedRoute client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6B7784"/>
                </a:solidFill>
                <a:latin typeface="Calibri"/>
              </a:rPr>
              <a:t>FPT Library Management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C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5. Quản lý sách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F2D3D"/>
                </a:solidFill>
                <a:latin typeface="Calibri"/>
              </a:rPr>
              <a:t>•  Danh sách + tìm kiếm theo tên / tác giả / ISBN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F2D3D"/>
                </a:solidFill>
                <a:latin typeface="Calibri"/>
              </a:rPr>
              <a:t>•  Lọc theo thể loại, tác giả, NXB, năm — có phân trang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F2D3D"/>
                </a:solidFill>
                <a:latin typeface="Calibri"/>
              </a:rPr>
              <a:t>•  Trang chi tiết: thông tin, số bản còn, trạng thái có sẵn / hết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F2D3D"/>
                </a:solidFill>
                <a:latin typeface="Calibri"/>
              </a:rPr>
              <a:t>•  Admin: thêm / sửa / xóa sách, cập nhật số lượng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F2D3D"/>
                </a:solidFill>
                <a:latin typeface="Calibri"/>
              </a:rPr>
              <a:t>•  Ràng buộc: không giảm số lượng dưới số bản đang được mượn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6B7784"/>
                </a:solidFill>
                <a:latin typeface="Calibri"/>
              </a:rPr>
              <a:t>FPT Library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C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6. Mượn / trả sách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F2D3D"/>
                </a:solidFill>
                <a:latin typeface="Calibri"/>
              </a:rPr>
              <a:t>•  Độc giả đặt mượn online (tạo phiếu chờ duyệt)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F2D3D"/>
                </a:solidFill>
                <a:latin typeface="Calibri"/>
              </a:rPr>
              <a:t>•  Admin duyệt → ghi ngày mượn + hạn trả (14 ngày), trừ kho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F2D3D"/>
                </a:solidFill>
                <a:latin typeface="Calibri"/>
              </a:rPr>
              <a:t>•  Admin xác nhận trả → hồi kho, tính phạt nếu trễ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2D3D"/>
                </a:solidFill>
                <a:latin typeface="Calibri"/>
              </a:rPr>
              <a:t>•  Vòng đời phiếu:</a:t>
            </a:r>
          </a:p>
          <a:p>
            <a:pPr lvl="1">
              <a:spcAft>
                <a:spcPts val="1000"/>
              </a:spcAft>
            </a:pPr>
            <a:r>
              <a:rPr sz="1700" b="0">
                <a:solidFill>
                  <a:srgbClr val="6B7784"/>
                </a:solidFill>
                <a:latin typeface="Calibri"/>
              </a:rPr>
              <a:t>–  pending → borrowing → returned / overdue  (nhánh rejected)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F2D3D"/>
                </a:solidFill>
                <a:latin typeface="Calibri"/>
              </a:rPr>
              <a:t>•  Giới hạn 5 sách đang mượn / độc giả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6B7784"/>
                </a:solidFill>
                <a:latin typeface="Calibri"/>
              </a:rPr>
              <a:t>FPT Library Management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C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7. Quản lý độc giả &amp; Nhắc nhở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F2D3D"/>
                </a:solidFill>
                <a:latin typeface="Calibri"/>
              </a:rPr>
              <a:t>•  Admin xem danh sách độc giả + lịch sử mượn / trả từng người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F2D3D"/>
                </a:solidFill>
                <a:latin typeface="Calibri"/>
              </a:rPr>
              <a:t>•  Khóa tài khoản vi phạm (trễ ≥ 3 lần) — cờ cảnh báo tự động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F2D3D"/>
                </a:solidFill>
                <a:latin typeface="Calibri"/>
              </a:rPr>
              <a:t>•  Email nhắc trả trước hạn 2 ngày (mẫu HTML)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F2D3D"/>
                </a:solidFill>
                <a:latin typeface="Calibri"/>
              </a:rPr>
              <a:t>•  Email thông báo khi quá hạn + số tiền phạt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F2D3D"/>
                </a:solidFill>
                <a:latin typeface="Calibri"/>
              </a:rPr>
              <a:t>•  Scheduler (node-cron) quét hạn trả 08:00 hằng ngày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6B7784"/>
                </a:solidFill>
                <a:latin typeface="Calibri"/>
              </a:rPr>
              <a:t>FPT Library Management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C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8. Dashboard thống kê (Admin)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F2D3D"/>
                </a:solidFill>
                <a:latin typeface="Calibri"/>
              </a:rPr>
              <a:t>•  Chỉ số tổng quan (KPI):</a:t>
            </a:r>
          </a:p>
          <a:p>
            <a:pPr lvl="1">
              <a:spcAft>
                <a:spcPts val="1000"/>
              </a:spcAft>
            </a:pPr>
            <a:r>
              <a:rPr sz="1700" b="0">
                <a:solidFill>
                  <a:srgbClr val="6B7784"/>
                </a:solidFill>
                <a:latin typeface="Calibri"/>
              </a:rPr>
              <a:t>–  Tổng đầu sách, tổng bản, đang mượn, quá hạn, độc giả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2D3D"/>
                </a:solidFill>
                <a:latin typeface="Calibri"/>
              </a:rPr>
              <a:t>•  Biểu đồ (Recharts):</a:t>
            </a:r>
          </a:p>
          <a:p>
            <a:pPr lvl="1">
              <a:spcAft>
                <a:spcPts val="1000"/>
              </a:spcAft>
            </a:pPr>
            <a:r>
              <a:rPr sz="1700" b="0">
                <a:solidFill>
                  <a:srgbClr val="6B7784"/>
                </a:solidFill>
                <a:latin typeface="Calibri"/>
              </a:rPr>
              <a:t>–  Lượt mượn theo ngày / tháng / năm (line)</a:t>
            </a:r>
          </a:p>
          <a:p>
            <a:pPr lvl="1">
              <a:spcAft>
                <a:spcPts val="1000"/>
              </a:spcAft>
            </a:pPr>
            <a:r>
              <a:rPr sz="1700" b="0">
                <a:solidFill>
                  <a:srgbClr val="6B7784"/>
                </a:solidFill>
                <a:latin typeface="Calibri"/>
              </a:rPr>
              <a:t>–  Sách được mượn nhiều nhất (bar)</a:t>
            </a:r>
          </a:p>
          <a:p>
            <a:pPr lvl="1">
              <a:spcAft>
                <a:spcPts val="1000"/>
              </a:spcAft>
            </a:pPr>
            <a:r>
              <a:rPr sz="1700" b="0">
                <a:solidFill>
                  <a:srgbClr val="6B7784"/>
                </a:solidFill>
                <a:latin typeface="Calibri"/>
              </a:rPr>
              <a:t>–  Cơ cấu đầu sách theo thể loại (pie)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6B7784"/>
                </a:solidFill>
                <a:latin typeface="Calibri"/>
              </a:rPr>
              <a:t>FPT Library Management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C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9. Tính năng nâng cao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F2D3D"/>
                </a:solidFill>
                <a:latin typeface="Calibri"/>
              </a:rPr>
              <a:t>•  QR code: mỗi sách có mã QR tra cứu nhanh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F2D3D"/>
                </a:solidFill>
                <a:latin typeface="Calibri"/>
              </a:rPr>
              <a:t>•  Phạt trả trễ tự động: 5.000đ / ngày trễ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F2D3D"/>
                </a:solidFill>
                <a:latin typeface="Calibri"/>
              </a:rPr>
              <a:t>•  Đánh giá &amp; rating sách đã mượn (1 đánh giá / người / sách)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F2D3D"/>
                </a:solidFill>
                <a:latin typeface="Calibri"/>
              </a:rPr>
              <a:t>•  Export báo cáo mượn / trả ra file CSV (UTF-8)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F2D3D"/>
                </a:solidFill>
                <a:latin typeface="Calibri"/>
              </a:rPr>
              <a:t>•  Gợi ý sách theo lịch sử mượn (content-based)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6B7784"/>
                </a:solidFill>
                <a:latin typeface="Calibri"/>
              </a:rPr>
              <a:t>FPT Library Management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C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10. Phân công &amp; tiến độ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6304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828800"/>
                <a:gridCol w="6583680"/>
              </a:tblGrid>
              <a:tr h="73152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Thành viên</a:t>
                      </a:r>
                    </a:p>
                  </a:txBody>
                  <a:tcPr>
                    <a:solidFill>
                      <a:srgbClr val="2C6FB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Git</a:t>
                      </a:r>
                    </a:p>
                  </a:txBody>
                  <a:tcPr>
                    <a:solidFill>
                      <a:srgbClr val="2C6FB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Phụ trách chính</a:t>
                      </a:r>
                    </a:p>
                  </a:txBody>
                  <a:tcPr>
                    <a:solidFill>
                      <a:srgbClr val="2C6FB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D3D"/>
                          </a:solidFill>
                          <a:latin typeface="Calibri"/>
                        </a:rPr>
                        <a:t>Nguyễn Tuấn Anh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D3D"/>
                          </a:solidFill>
                          <a:latin typeface="Calibri"/>
                        </a:rPr>
                        <a:t>anhnt-24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D3D"/>
                          </a:solidFill>
                          <a:latin typeface="Calibri"/>
                        </a:rPr>
                        <a:t>Authentication, nền tảng frontend (router, auth, giao diện độc giả)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D3D"/>
                          </a:solidFill>
                          <a:latin typeface="Calibri"/>
                        </a:rPr>
                        <a:t>Phan Hà Tuấn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D3D"/>
                          </a:solidFill>
                          <a:latin typeface="Calibri"/>
                        </a:rPr>
                        <a:t>tuanph-11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D3D"/>
                          </a:solidFill>
                          <a:latin typeface="Calibri"/>
                        </a:rPr>
                        <a:t>Quản lý sách, mượn/trả, thiết kế CSDL (SQLite)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D3D"/>
                          </a:solidFill>
                          <a:latin typeface="Calibri"/>
                        </a:rPr>
                        <a:t>Nguyễn Trí Dũng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D3D"/>
                          </a:solidFill>
                          <a:latin typeface="Calibri"/>
                        </a:rPr>
                        <a:t>dung0231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D3D"/>
                          </a:solidFill>
                          <a:latin typeface="Calibri"/>
                        </a:rPr>
                        <a:t>Admin, Dashboard, chức năng nâng cao, hạ tầng backend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466344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>
                <a:solidFill>
                  <a:srgbClr val="1F2D3D"/>
                </a:solidFill>
                <a:latin typeface="Calibri"/>
              </a:rPr>
              <a:t>• Tiến độ: 04/08 → 13/08/2026 (kế hoạch chi tiết trong KeHoachDuAn.xlsx)</a:t>
            </a:r>
          </a:p>
          <a:p>
            <a:r>
              <a:rPr sz="1800" b="0">
                <a:solidFill>
                  <a:srgbClr val="1F2D3D"/>
                </a:solidFill>
                <a:latin typeface="Calibri"/>
              </a:rPr>
              <a:t>• Commit phân bổ theo người phụ trách trên GitHub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C6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11. Kết quả &amp; Hướng phát triển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F2D3D"/>
                </a:solidFill>
                <a:latin typeface="Calibri"/>
              </a:rPr>
              <a:t>•  Kết quả:</a:t>
            </a:r>
          </a:p>
          <a:p>
            <a:pPr lvl="1">
              <a:spcAft>
                <a:spcPts val="1000"/>
              </a:spcAft>
            </a:pPr>
            <a:r>
              <a:rPr sz="1700" b="0">
                <a:solidFill>
                  <a:srgbClr val="6B7784"/>
                </a:solidFill>
                <a:latin typeface="Calibri"/>
              </a:rPr>
              <a:t>–  Ứng dụng chạy end-to-end (frontend + backend + SQLite)</a:t>
            </a:r>
          </a:p>
          <a:p>
            <a:pPr lvl="1">
              <a:spcAft>
                <a:spcPts val="1000"/>
              </a:spcAft>
            </a:pPr>
            <a:r>
              <a:rPr sz="1700" b="0">
                <a:solidFill>
                  <a:srgbClr val="6B7784"/>
                </a:solidFill>
                <a:latin typeface="Calibri"/>
              </a:rPr>
              <a:t>–  Kiểm thử API tự động: 64/64 case PASS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2D3D"/>
                </a:solidFill>
                <a:latin typeface="Calibri"/>
              </a:rPr>
              <a:t>•  Hướng phát triển:</a:t>
            </a:r>
          </a:p>
          <a:p>
            <a:pPr lvl="1">
              <a:spcAft>
                <a:spcPts val="1000"/>
              </a:spcAft>
            </a:pPr>
            <a:r>
              <a:rPr sz="1700" b="0">
                <a:solidFill>
                  <a:srgbClr val="6B7784"/>
                </a:solidFill>
                <a:latin typeface="Calibri"/>
              </a:rPr>
              <a:t>–  Export PDF, cắm SMTP thật cho email</a:t>
            </a:r>
          </a:p>
          <a:p>
            <a:pPr lvl="1">
              <a:spcAft>
                <a:spcPts val="1000"/>
              </a:spcAft>
            </a:pPr>
            <a:r>
              <a:rPr sz="1700" b="0">
                <a:solidFill>
                  <a:srgbClr val="6B7784"/>
                </a:solidFill>
                <a:latin typeface="Calibri"/>
              </a:rPr>
              <a:t>–  Tìm kiếm/phân trang phía server, phân trang nâng cao</a:t>
            </a:r>
          </a:p>
          <a:p>
            <a:pPr lvl="1">
              <a:spcAft>
                <a:spcPts val="1000"/>
              </a:spcAft>
            </a:pPr>
            <a:r>
              <a:rPr sz="1700" b="0">
                <a:solidFill>
                  <a:srgbClr val="6B7784"/>
                </a:solidFill>
                <a:latin typeface="Calibri"/>
              </a:rPr>
              <a:t>–  Triển khai (deploy) lên môi trường thật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6B7784"/>
                </a:solidFill>
                <a:latin typeface="Calibri"/>
              </a:rPr>
              <a:t>FPT Library 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